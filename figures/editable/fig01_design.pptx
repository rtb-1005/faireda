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c0e2a761c4490" /><Relationship Type="http://schemas.openxmlformats.org/officeDocument/2006/relationships/extended-properties" Target="/docProps/app.xml" Id="R6f67ff966ee34c17" /><Relationship Type="http://schemas.openxmlformats.org/officeDocument/2006/relationships/officeDocument" Target="/ppt/presentation.xml" Id="R9f0b6edbb30e4a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1634de6de4891"/>
  </p:sldMasterIdLst>
  <p:notesMasterIdLst>
    <p:notesMasterId xmlns:r="http://schemas.openxmlformats.org/officeDocument/2006/relationships" r:id="R9a501bb152fb403a"/>
  </p:notesMasterIdLst>
  <p:sldIdLst>
    <p:sldId xmlns:r="http://schemas.openxmlformats.org/officeDocument/2006/relationships" id="256" r:id="Rce359f85c58d4091"/>
  </p:sldIdLst>
  <p:sldSz cx="6400800" cy="26517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3bcee4ea4b4581" /><Relationship Type="http://schemas.openxmlformats.org/officeDocument/2006/relationships/slideMaster" Target="/ppt/slideMasters/slideMaster1.xml" Id="Rb331634de6de4891" /><Relationship Type="http://schemas.openxmlformats.org/officeDocument/2006/relationships/notesMaster" Target="/ppt/notesMasters/notesMaster1.xml" Id="R9a501bb152fb403a" /><Relationship Type="http://schemas.openxmlformats.org/officeDocument/2006/relationships/presProps" Target="/ppt/presProps.xml" Id="R59158ab00dfa4142" /><Relationship Type="http://schemas.openxmlformats.org/officeDocument/2006/relationships/tableStyles" Target="/ppt/tableStyles.xml" Id="R7b2d710557894882" /><Relationship Type="http://schemas.openxmlformats.org/officeDocument/2006/relationships/slide" Target="/ppt/slides/slide1.xml" Id="Rce359f85c58d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5bc81c09514f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a5d140239f4dc5" /><Relationship Type="http://schemas.openxmlformats.org/officeDocument/2006/relationships/notesMaster" Target="/ppt/notesMasters/notesMaster1.xml" Id="Rd129e9348950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Asymmetric study design separates expert-reference evaluation from event-related VR state classification. EDABE provides 43 records with a fixed 33/10 train/test split; the operator is frozen before transfer. VR comprises 11 deduplicated participants and 984 windows. Raw and gated arms undergo the same five-family, 11-fold leave-one-subject-out evaluation with three seeds. Participant-cluster bootstrap replicates average seeds internally. Reference-mechanism evidence uses explicitly identified CRG-A/CRG-B variants rather than a single-checkpoint causal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Native editable shapes; Arial, 6.5–7 pt labels and 8 pt panel letters. White background, minimal fills, no icons or decorative ruler. Original scientific labels and separate CRG-A / CRG-B identities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70cf9bc6348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d5fc2e08043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aeeaf67a24a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a6e8b7e4147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ad92bb21f4e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62390f1d24b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E0592B-7463-47B2-AAE4-D43EDB1F5B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080" y="1001776"/>
            <a:ext cx="5120640" cy="383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23B2F0-0E24-4621-AD80-31DBC24DF5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60120" y="1458468"/>
            <a:ext cx="4480560" cy="29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1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E0C3C2-1657-4B07-AAAA-DC188F227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080" y="1104900"/>
            <a:ext cx="512064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D59B25-3ADC-4790-B800-FEBF6338C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206248"/>
            <a:ext cx="5680710" cy="324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198FF3-C4D5-4D7D-A75A-0972EE2EAF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736600"/>
            <a:ext cx="5680710" cy="164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8392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1pPr>
            <a:lvl2pPr marL="206248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2pPr>
            <a:lvl3pPr marL="324104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3pPr>
            <a:lvl4pPr marL="441960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4pPr>
            <a:lvl5pPr marL="559816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5pPr>
            <a:lvl6pPr marL="677672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6pPr>
            <a:lvl7pPr marL="795528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7pPr>
            <a:lvl8pPr marL="913384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8pPr>
            <a:lvl9pPr marL="1031240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BC508A-B1E0-48AA-9D81-DC1DB0360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206248"/>
            <a:ext cx="5680710" cy="324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7A6B70-14CF-4550-BB87-7A1D04DC80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736600"/>
            <a:ext cx="2640330" cy="164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8392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1pPr>
            <a:lvl2pPr marL="206248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2pPr>
            <a:lvl3pPr marL="324104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3pPr>
            <a:lvl4pPr marL="441960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4pPr>
            <a:lvl5pPr marL="559816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5pPr>
            <a:lvl6pPr marL="677672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6pPr>
            <a:lvl7pPr marL="795528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7pPr>
            <a:lvl8pPr marL="913384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8pPr>
            <a:lvl9pPr marL="1031240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21DFB1-5C13-4A38-B6BA-07BA0251C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00425" y="736600"/>
            <a:ext cx="2640330" cy="164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8392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1pPr>
            <a:lvl2pPr marL="206248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2pPr>
            <a:lvl3pPr marL="324104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3pPr>
            <a:lvl4pPr marL="441960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4pPr>
            <a:lvl5pPr marL="559816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5pPr>
            <a:lvl6pPr marL="677672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6pPr>
            <a:lvl7pPr marL="795528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7pPr>
            <a:lvl8pPr marL="913384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8pPr>
            <a:lvl9pPr marL="1031240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7FD34B-33C7-46FD-B19C-3E7C0FCB1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206248"/>
            <a:ext cx="5680710" cy="324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E9590D-4C66-47A5-B0D5-8CC0010AA5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736600"/>
            <a:ext cx="2640330" cy="164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8392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1pPr>
            <a:lvl2pPr marL="206248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2pPr>
            <a:lvl3pPr marL="324104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3pPr>
            <a:lvl4pPr marL="441960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4pPr>
            <a:lvl5pPr marL="559816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5pPr>
            <a:lvl6pPr marL="677672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6pPr>
            <a:lvl7pPr marL="795528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7pPr>
            <a:lvl8pPr marL="913384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8pPr>
            <a:lvl9pPr marL="1031240" indent="-88392">
              <a:lnSpc>
                <a:spcPct val="110000"/>
              </a:lnSpc>
              <a:spcBef>
                <a:spcPts val="0"/>
              </a:spcBef>
              <a:spcAft>
                <a:spcPts val="46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f04cc58834315" /><Relationship Type="http://schemas.openxmlformats.org/officeDocument/2006/relationships/slideLayout" Target="/ppt/slideLayouts/slideLayout1.xml" Id="Rb8559960ddde48e4" /><Relationship Type="http://schemas.openxmlformats.org/officeDocument/2006/relationships/slideLayout" Target="/ppt/slideLayouts/slideLayout2.xml" Id="R65eaec6ed9544317" /><Relationship Type="http://schemas.openxmlformats.org/officeDocument/2006/relationships/slideLayout" Target="/ppt/slideLayouts/slideLayout3.xml" Id="Raa4c88ac5bc14107" /><Relationship Type="http://schemas.openxmlformats.org/officeDocument/2006/relationships/slideLayout" Target="/ppt/slideLayouts/slideLayout4.xml" Id="Rc6965658f7b6495e" /><Relationship Type="http://schemas.openxmlformats.org/officeDocument/2006/relationships/slideLayout" Target="/ppt/slideLayouts/slideLayout5.xml" Id="R53448fe1375e4bf7" /><Relationship Type="http://schemas.openxmlformats.org/officeDocument/2006/relationships/slideLayout" Target="/ppt/slideLayouts/slideLayout6.xml" Id="Rd204b5787a3c4b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59960ddde48e4"/>
    <p:sldLayoutId xmlns:r="http://schemas.openxmlformats.org/officeDocument/2006/relationships" id="2147483650" r:id="R65eaec6ed9544317"/>
    <p:sldLayoutId xmlns:r="http://schemas.openxmlformats.org/officeDocument/2006/relationships" id="2147483651" r:id="Raa4c88ac5bc14107"/>
    <p:sldLayoutId xmlns:r="http://schemas.openxmlformats.org/officeDocument/2006/relationships" id="2147483652" r:id="Rc6965658f7b6495e"/>
    <p:sldLayoutId xmlns:r="http://schemas.openxmlformats.org/officeDocument/2006/relationships" id="2147483653" r:id="R53448fe1375e4bf7"/>
    <p:sldLayoutId xmlns:r="http://schemas.openxmlformats.org/officeDocument/2006/relationships" id="2147483654" r:id="Rd204b5787a3c4b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e72828145444b" /><Relationship Type="http://schemas.openxmlformats.org/officeDocument/2006/relationships/notesSlide" Target="/ppt/notesSlides/notesSlide1.xml" Id="R571156d3e9374f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987F689-6A90-4A2C-8C16-D8C71A71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57175"/>
            <a:ext cx="61341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6191">
            <a:solidFill>
              <a:srgbClr val="D6E1E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5A5BD-E4EE-4A02-B413-BCACE4A6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04900"/>
            <a:ext cx="6134100" cy="10001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AFAF9"/>
          </a:solidFill>
          <a:ln xmlns:a="http://schemas.openxmlformats.org/drawingml/2006/main" w="6191">
            <a:solidFill>
              <a:srgbClr val="E0E2E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7F943-A898-4943-A8F3-8F434A6A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5750"/>
            <a:ext cx="114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80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613D9-E1A8-452E-BA9F-1D5ECBBC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3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0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0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SOURCE · supervised reference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D4C8E-A92A-4910-8B71-A5FFF66C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8625"/>
            <a:ext cx="1428750" cy="4857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A8937-2B05-49D2-9CEF-F86E90C8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23863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EDABE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5A032-FC27-412B-9471-838C27E6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7688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43 records · 128 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F0A8F-7561-4189-B00D-A71604C5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71513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Raw + expert-clean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31258-5A2D-4D03-8FFB-C98AA908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95338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Point-wise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03BFB-98BE-4E43-ADDF-B4BD2988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8625"/>
            <a:ext cx="962025" cy="4857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94625-8A73-43E0-B10E-AC9717BB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5775"/>
            <a:ext cx="828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Fixed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16BD9-DF9D-47F3-97A6-2D55A14A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9600"/>
            <a:ext cx="828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33 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BC2AE-4297-4E93-901A-7EEF8B8F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33425"/>
            <a:ext cx="828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10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27B04-ECB3-4652-B1AA-54282284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8625"/>
            <a:ext cx="1247775" cy="4857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6191">
            <a:solidFill>
              <a:srgbClr val="D55E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A7A4A-824B-4651-A675-84B63C09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5775"/>
            <a:ext cx="1114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Frozen checkpoints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0F08A-5B75-4E37-B30A-194B5E8C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09600"/>
            <a:ext cx="1114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CRG-A / CRG-B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A92AE-D718-43F6-B6BD-854B0227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33425"/>
            <a:ext cx="1114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Distinct weights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F23A9-545B-4474-8DC0-1E6E405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8625"/>
            <a:ext cx="1552575" cy="4857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1487F-EE01-440F-821A-D2BEE2A5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47688"/>
            <a:ext cx="1419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Reference diagnostics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5ACDD-1F4B-4451-94CD-2EA27A50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71513"/>
            <a:ext cx="1419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Out-of-fold +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E91C1-EE0A-4E40-ABCC-A9D8B252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71513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04845-170A-42B0-A4F2-1EB6FFC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55" y="671513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6E641-67D1-4C48-A3F0-4FD64F49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55" y="64868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86426-C06F-4867-A011-E1FF6BFB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71513"/>
            <a:ext cx="247650" cy="95"/>
          </a:xfrm>
          <a:custGeom xmlns:a="http://schemas.openxmlformats.org/drawingml/2006/main">
            <a:pathLst>
              <a:path w="247650" h="9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E9C85-FAA3-4566-A60C-4C4DD59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830" y="671513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D1898-5C5B-40DB-BC89-211C10F1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830" y="64868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1DBF3-4364-45D8-9381-28D8236E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71513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17D44-2FEF-4C87-90CD-124EE895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305" y="671513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C9EF20-50DE-4D94-B1D7-744B0EBA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305" y="64868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3EB5DF-E160-4E0F-8B58-AE5CDA2E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33475"/>
            <a:ext cx="114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80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981ADD-7D90-4A51-BCD8-894E90ED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734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0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0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TARGET · downstream task evaluation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713FE4-C399-4A9D-938F-8280D302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0"/>
            <a:ext cx="1438275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AA5D4F-DF82-4E0C-8194-50E24C2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19225"/>
            <a:ext cx="1304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VR balance task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0A2A1-4856-41FE-9FF0-7A549FDC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543050"/>
            <a:ext cx="1304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11 participants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868382-7574-42DE-A683-92E23186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66875"/>
            <a:ext cx="1304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984 windows · 58.8 Hz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7080D-49B0-40C7-B71D-CDD0CD44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790700"/>
            <a:ext cx="1304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720 samples / window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F20B0F-E72C-47FC-B2B6-54BC888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371600"/>
            <a:ext cx="121920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ED6C37-3150-494B-B7C5-B3C9137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52563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Raw input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4FC58B-8B82-48F4-85A4-FEE2084B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743075"/>
            <a:ext cx="1219200" cy="3524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6191">
            <a:solidFill>
              <a:srgbClr val="D55E0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B744BC-432A-4D1F-9090-FD5F4ED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95463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CRG-B gate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D52EA2-9DE5-44AE-A7B7-6BCB9127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19288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Frozen transfer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B7AD8D-81A0-450D-A990-9AB7895A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14475"/>
            <a:ext cx="361950" cy="152400"/>
          </a:xfrm>
          <a:custGeom xmlns:a="http://schemas.openxmlformats.org/drawingml/2006/main">
            <a:pathLst>
              <a:path w="361950" h="152400">
                <a:moveTo>
                  <a:pt x="0" y="152400"/>
                </a:moveTo>
                <a:lnTo>
                  <a:pt x="171450" y="152400"/>
                </a:lnTo>
                <a:lnTo>
                  <a:pt x="171450" y="0"/>
                </a:ln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1A685E-4F09-44D2-AAEB-C0BAC2DC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144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AEDBFF-AA2D-4E53-8241-3D8E43AB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30" y="1514475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A10074-1AB6-41FB-9D8C-DF467991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30" y="1491642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8266BD-3CCA-4E2B-BF78-9A58701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666875"/>
            <a:ext cx="190500" cy="247650"/>
          </a:xfrm>
          <a:custGeom xmlns:a="http://schemas.openxmlformats.org/drawingml/2006/main">
            <a:pathLst>
              <a:path w="190500" h="247650">
                <a:moveTo>
                  <a:pt x="0" y="0"/>
                </a:moveTo>
                <a:lnTo>
                  <a:pt x="0" y="247650"/>
                </a:lnTo>
                <a:lnTo>
                  <a:pt x="19050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93E537-E20E-40EF-99EF-653F1757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9ECC31-4FDC-487A-9384-3CC0427A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30" y="1914525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327977-C43C-43FA-AA95-931134C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30" y="1891692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1FD6EE-EB06-4C46-9F1C-737C940D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428750"/>
            <a:ext cx="15049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369B31-C8FA-4856-A146-C158BB36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500188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Matched 11-fold LOSO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292F4A-21F4-4A5C-9E20-88ECC31E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24013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10 train / 1 held out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B631EE-D1A2-4731-BE9E-9D58848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47838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Same folds for both arms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2FD829-A1F7-47BA-86EB-5A2803A1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514475"/>
            <a:ext cx="361950" cy="85725"/>
          </a:xfrm>
          <a:custGeom xmlns:a="http://schemas.openxmlformats.org/drawingml/2006/main">
            <a:pathLst>
              <a:path w="361950" h="85725">
                <a:moveTo>
                  <a:pt x="0" y="0"/>
                </a:moveTo>
                <a:lnTo>
                  <a:pt x="171450" y="0"/>
                </a:lnTo>
                <a:lnTo>
                  <a:pt x="171450" y="85725"/>
                </a:lnTo>
                <a:lnTo>
                  <a:pt x="36195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E247BF-FB7E-43B5-A133-141D63C3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002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3CBF10-EF9E-4842-9EB5-C85AFDF8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80" y="160020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3F244C-94F7-48DC-B103-832BBF01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80" y="1577367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278CA3-A4C0-466A-AE61-718E8341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71650"/>
            <a:ext cx="361950" cy="142875"/>
          </a:xfrm>
          <a:custGeom xmlns:a="http://schemas.openxmlformats.org/drawingml/2006/main">
            <a:pathLst>
              <a:path w="361950" h="142875">
                <a:moveTo>
                  <a:pt x="0" y="142875"/>
                </a:moveTo>
                <a:lnTo>
                  <a:pt x="171450" y="142875"/>
                </a:lnTo>
                <a:lnTo>
                  <a:pt x="171450" y="0"/>
                </a:ln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539493-8D85-477F-9954-8F478240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7165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A6ED2A-5FD8-4A34-9466-78C55E9A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80" y="1771650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9AFC91-ED9A-4BBD-A482-0F384370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80" y="1748817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30303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65825D-0EE0-4E58-B38D-F77BBA0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352550"/>
            <a:ext cx="723900" cy="6477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69C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DD65DF-D890-4DA6-B546-E20DC7F2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366838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1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1">
                <a:solidFill>
                  <a:srgbClr val="303030"/>
                </a:solidFill>
                <a:latin typeface="Arial"/>
                <a:ea typeface="Arial"/>
                <a:cs typeface="Arial"/>
              </a:rPr>
              <a:t>catch22 + RF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B3BE69-2E0E-4BEE-81AE-A9F5A0B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90663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HYDRA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920681-DA2D-49C9-86F9-A7C7C71D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14488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MiniRocket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9F5E84-6394-4515-BD78-CB0C8787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38313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MultiRocket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B13D18C-C6EF-480D-A1FD-7215651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62138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ROCKET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611F62-F9AC-4A2B-9A1F-3ECBD4EE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85925"/>
            <a:ext cx="323850" cy="95"/>
          </a:xfrm>
          <a:custGeom xmlns:a="http://schemas.openxmlformats.org/drawingml/2006/main"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0E8BBC-5524-40CF-A9FB-446DCAA6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980" y="1685925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0"/>
                </a:moveTo>
                <a:lnTo>
                  <a:pt x="0" y="22833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18933F-56E9-4113-9A44-B633C29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980" y="1663092"/>
            <a:ext cx="41795" cy="22833"/>
          </a:xfrm>
          <a:custGeom xmlns:a="http://schemas.openxmlformats.org/drawingml/2006/main">
            <a:pathLst>
              <a:path w="41795" h="22833">
                <a:moveTo>
                  <a:pt x="41795" y="228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0303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221D65-8273-4D2B-BA10-0D321DC1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5962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Task inference: seeds 1005 / 2004 / 2027 · participant-cluster bootstrap (20,000 replicates); seeds averaged within replicate.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E64B41-0F0A-49C4-ACCF-D49CFEE8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90775"/>
            <a:ext cx="5962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4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64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Expert-clean reference labels are unavailable in the target corpus.</a:t>
            </a:r>
          </a:p>
        </p:txBody>
      </p:sp>
    </p:spTree>
    <p:extLst>
      <p:ext uri="{BB962C8B-B14F-4D97-AF65-F5344CB8AC3E}">
        <p14:creationId xmlns:p14="http://schemas.microsoft.com/office/powerpoint/2010/main" val="1696462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2026-10-01T22:47:19.1930000Z</dcterms:created>
  <dcterms:modified xsi:type="dcterms:W3CDTF">2026-10-01T22:47:19.1930000Z</dcterms:modified>
</coreProperties>
</file>